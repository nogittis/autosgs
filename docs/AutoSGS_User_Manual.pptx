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9448495" cy="5212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870" y="11887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283464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3A8A"/>
                </a:solidFill>
                <a:latin typeface="Prompt"/>
              </a:defRPr>
            </a:pPr>
            <a:r>
              <a:t>⚡ AutoSGS v1.0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Prompt"/>
              </a:defRPr>
            </a:pPr>
            <a:r>
              <a:t>คู่มือการใช้งานระบบช่วยพิมพ์คะแนนอัตโนมัติลงระบบ SGS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64748B"/>
                </a:solidFill>
                <a:latin typeface="Prompt"/>
              </a:defRPr>
            </a:pPr>
            <a:r>
              <a:t>สำหรับครูผู้สอนบันทึกผลการเรียน คุณลักษณะอันพึงประสงค์ และการอ่านคิดวิเคราะห์ฯ</a:t>
            </a:r>
            <a:br/>
            <a:r>
              <a:t>รวดเร็ว • แม่นยำ • ปลอดภัย 100% | จัดทำโดย NOGiTTiS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ทำไมต้องใช้ AutoSGS? ปัญหาจริงของครูผู้สอน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1C1C"/>
                </a:solidFill>
                <a:latin typeface="Prompt"/>
              </a:defRPr>
            </a:pPr>
            <a:r>
              <a:t>❌ วิธีเดิม: พิมพ์มือทีละช่อง</a:t>
            </a:r>
          </a:p>
          <a:p>
            <a:pPr>
              <a:spcBef>
                <a:spcPts val="1000"/>
              </a:spcBef>
              <a:defRPr sz="1350">
                <a:solidFill>
                  <a:srgbClr val="7F1D1D"/>
                </a:solidFill>
                <a:latin typeface="Prompt"/>
              </a:defRPr>
            </a:pPr>
            <a:r>
              <a:t>• นักเรียน 1 ห้องมี 40-50 คน หากสอน 5 ห้อง รวมกว่า 200 คน</a:t>
            </a:r>
          </a:p>
          <a:p>
            <a:pPr>
              <a:spcBef>
                <a:spcPts val="1000"/>
              </a:spcBef>
              <a:defRPr sz="1350">
                <a:solidFill>
                  <a:srgbClr val="7F1D1D"/>
                </a:solidFill>
                <a:latin typeface="Prompt"/>
              </a:defRPr>
            </a:pPr>
            <a:r>
              <a:t>• ต้องเคาะแป้นตัวเลข + กด Tab ซ้ำ ๆ กว่า 4,000–5,000 ครั้ง!</a:t>
            </a:r>
          </a:p>
          <a:p>
            <a:pPr>
              <a:spcBef>
                <a:spcPts val="1000"/>
              </a:spcBef>
              <a:defRPr sz="1350">
                <a:solidFill>
                  <a:srgbClr val="7F1D1D"/>
                </a:solidFill>
                <a:latin typeface="Prompt"/>
              </a:defRPr>
            </a:pPr>
            <a:r>
              <a:t>• อาการปวดเมื่อยข้อมือ นิ้วล็อก และสายตาอ่อนล้า</a:t>
            </a:r>
          </a:p>
          <a:p>
            <a:pPr>
              <a:spcBef>
                <a:spcPts val="1000"/>
              </a:spcBef>
              <a:defRPr sz="1350">
                <a:solidFill>
                  <a:srgbClr val="7F1D1D"/>
                </a:solidFill>
                <a:latin typeface="Prompt"/>
              </a:defRPr>
            </a:pPr>
            <a:r>
              <a:t>• เสี่ยงคลิกผิดช่อง คะแนนเลื่อนทั้งแถว ต้องไล่หาและแก้ใหม่</a:t>
            </a:r>
          </a:p>
          <a:p>
            <a:pPr>
              <a:spcBef>
                <a:spcPts val="1000"/>
              </a:spcBef>
              <a:defRPr sz="1350">
                <a:solidFill>
                  <a:srgbClr val="7F1D1D"/>
                </a:solidFill>
                <a:latin typeface="Prompt"/>
              </a:defRPr>
            </a:pPr>
            <a:r>
              <a:t>• เสียเวลาตรวจและพิมพ์ข้อมูลหลายวันในแต่ละช่วงสิ้นเทอม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47857"/>
                </a:solidFill>
                <a:latin typeface="Prompt"/>
              </a:defRPr>
            </a:pPr>
            <a:r>
              <a:t>⚡ ทางออกด้วย AutoSGS</a:t>
            </a:r>
          </a:p>
          <a:p>
            <a:pPr>
              <a:spcBef>
                <a:spcPts val="1000"/>
              </a:spcBef>
              <a:defRPr sz="1350">
                <a:solidFill>
                  <a:srgbClr val="064E3B"/>
                </a:solidFill>
                <a:latin typeface="Prompt"/>
              </a:defRPr>
            </a:pPr>
            <a:r>
              <a:t>• คัดลอก (Ctrl+C) จาก Excel โปรแกรมจับข้อมูลคลิปบอร์ดทันที</a:t>
            </a:r>
          </a:p>
          <a:p>
            <a:pPr>
              <a:spcBef>
                <a:spcPts val="1000"/>
              </a:spcBef>
              <a:defRPr sz="1350">
                <a:solidFill>
                  <a:srgbClr val="064E3B"/>
                </a:solidFill>
                <a:latin typeface="Prompt"/>
              </a:defRPr>
            </a:pPr>
            <a:r>
              <a:t>• คลิกช่องแรกในเว็บ SGS แล้วกด F2 เริ่มพิมพ์อัตโนมัติ</a:t>
            </a:r>
          </a:p>
          <a:p>
            <a:pPr>
              <a:spcBef>
                <a:spcPts val="1000"/>
              </a:spcBef>
              <a:defRPr sz="1350">
                <a:solidFill>
                  <a:srgbClr val="064E3B"/>
                </a:solidFill>
                <a:latin typeface="Prompt"/>
              </a:defRPr>
            </a:pPr>
            <a:r>
              <a:t>• กด Tab ข้ามช่องสรุปให้อัตโนมัติ (ข้าม 4 ช่อง / 2 ช่อง)</a:t>
            </a:r>
          </a:p>
          <a:p>
            <a:pPr>
              <a:spcBef>
                <a:spcPts val="1000"/>
              </a:spcBef>
              <a:defRPr sz="1350">
                <a:solidFill>
                  <a:srgbClr val="064E3B"/>
                </a:solidFill>
                <a:latin typeface="Prompt"/>
              </a:defRPr>
            </a:pPr>
            <a:r>
              <a:t>• พิมพ์เสร็จ 1 ห้องในไม่กี่วินาที ด้วยโหมด Turbo ⚡ (20ms)</a:t>
            </a:r>
          </a:p>
          <a:p>
            <a:pPr>
              <a:spcBef>
                <a:spcPts val="1000"/>
              </a:spcBef>
              <a:defRPr sz="1350">
                <a:solidFill>
                  <a:srgbClr val="064E3B"/>
                </a:solidFill>
                <a:latin typeface="Prompt"/>
              </a:defRPr>
            </a:pPr>
            <a:r>
              <a:t>• มีระบบหยุดฉุกเฉิน (ESC) หยุดได้ในพริบตา (&lt;50ms) ปลอดภัย 100%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ขั้นตอนการทำงาน 4 ขั้นตอนง่าย ๆ (Workflow)</a:t>
            </a:r>
          </a:p>
        </p:txBody>
      </p:sp>
      <p:pic>
        <p:nvPicPr>
          <p:cNvPr id="4" name="Picture 3" descr="quick_steps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62895" cy="4037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9496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Prompt"/>
              </a:defRPr>
            </a:pPr>
            <a:r>
              <a:t>💡 เคล็ดลับ: การกดปุ่ม F2 เป็นวิธีที่สะดวกและแนะนำมากที่สุด เพียงคลิกช่องแรกแล้วกด F2 โปรแกรมจะทำงานให้ทันที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ขั้นตอนที่ 1: คัดลอกจาก Excel / Google Sheets</a:t>
            </a:r>
          </a:p>
        </p:txBody>
      </p:sp>
      <p:pic>
        <p:nvPicPr>
          <p:cNvPr id="4" name="Picture 3" descr="excel_copy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09111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474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Prompt"/>
              </a:defRPr>
            </a:pPr>
            <a:r>
              <a:t>📌 กฎเหล็กในการคลุมคะแนน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คลุมเฉพาะ 'ตัวเลขคะแนน' เท่านั้น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❌ ห้ามคลุมหัวตาราง (เช่น ข้อ 1, สอบกลางภาค)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❌ ห้ามคลุมเลขที่ หรือชื่อ-นามสกุลนักเรียน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เรียงลำดับเลขที่ใน Excel ให้ตรงกับหน้าเว็บ SGS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หากมีเด็กขาดสอบ ให้เว้นเซลล์ว่างไว้ โปรแกรมจะกด Tab เปล่าข้ามให้อัตโนมัติ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เมื่อคลุมเสร็จแล้ว กด Ctrl + C เพื่อคัดลอก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ขั้นตอนที่ 2: หน้าต่าง AutoSGS &amp; การตรวจเช็คข้อมูล</a:t>
            </a:r>
          </a:p>
        </p:txBody>
      </p:sp>
      <p:pic>
        <p:nvPicPr>
          <p:cNvPr id="4" name="Picture 3" descr="autosgs_main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376737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03520" y="1371600"/>
            <a:ext cx="61264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155448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Prompt"/>
              </a:defRPr>
            </a:pPr>
            <a:r>
              <a:t>🔍 ส่วนประกอบและจุดสังเกตสำคัญ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สวิตช์ 'อยู่บนสุด' (Always on Top):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หน้าต่างโปรแกรมจะลอยอยู่มุมจอเสมอ มองเห็นสถานะได้ตลอดเวลา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แถบเลือกโหมด 3 โหมด: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เลือกให้ตรงกับหน้า SGS ที่กำลังจะพิมพ์ (คะแนน / คุณลักษณะฯ / การอ่านฯ)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กล่องสถานะอัจฉริยะ: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สังเกตสีเขียว 'พร้อมทำงาน' พร้อมระบุจำนวนแถวและคอลัมน์ที่ตรวจพบ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แถบ Slider ปรับสปีด: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เลือกความเร็วได้อิสระ โหมดประเมินใช้ Turbo 0.02s ⚡ ได้รวดเร็วมาก</a:t>
            </a:r>
          </a:p>
          <a:p>
            <a:pPr>
              <a:spcBef>
                <a:spcPts val="8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ปุ่ม Preview ข้อมูล: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คลิกเพื่อคลี่ดูตารางคะแนนในคลิปบอร์ด มั่นใจ 100% ก่อนเริ่มพิมพ์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เจาะลึก 3 โหมดการกรอกคะแนนในระบบ SGS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  <a:latin typeface="Prompt"/>
              </a:defRPr>
            </a:pPr>
            <a:r>
              <a:t>📊 1. ผลการเรียน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ประเภทงาน: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คะแนนรายวิชาทั่วไป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จำนวนช่อง: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อิสระ (1 - N ช่อง)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พฤติกรรมในแถว: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พิมพ์ + Tab 1 ครั้งทุกช่อง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ท้ายแถวคน:</a:t>
            </a:r>
          </a:p>
          <a:p>
            <a:pPr>
              <a:defRPr sz="1200">
                <a:solidFill>
                  <a:srgbClr val="1E3A8A"/>
                </a:solidFill>
                <a:latin typeface="Prompt"/>
              </a:defRPr>
            </a:pPr>
            <a:r>
              <a:t>  ไม่มี Tab พิเศษ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สปีดแนะนำ: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0.10s (ปลอดภัย)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383280" cy="48463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  <a:latin typeface="Prompt"/>
              </a:defRPr>
            </a:pPr>
            <a:r>
              <a:t>⭐ 2. คุณลักษณะฯ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ประเภทงาน: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ประเมินคุณลักษณะ 8 ข้อ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จำนวนช่อง: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8 ตัวชี้วัด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พฤติกรรมในแถว: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พิมพ์ + Tab (8 ช่อง)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ท้ายแถวคน:</a:t>
            </a:r>
          </a:p>
          <a:p>
            <a:pPr>
              <a:defRPr sz="1200">
                <a:solidFill>
                  <a:srgbClr val="1E3A8A"/>
                </a:solidFill>
                <a:latin typeface="Prompt"/>
              </a:defRPr>
            </a:pPr>
            <a:r>
              <a:t>  กด Tab เพิ่ม 4 ครั้งท้ายแถว!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สปีดแนะนำ: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0.02s ⚡ Turbo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371600"/>
            <a:ext cx="3383280" cy="484632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554480"/>
            <a:ext cx="3017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  <a:latin typeface="Prompt"/>
              </a:defRPr>
            </a:pPr>
            <a:r>
              <a:t>📖 3. การอ่าน คิดวิเคราะห์ฯ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ประเภทงาน: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ประเมินการอ่านฯ 6 ข้อ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จำนวนช่อง: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6 ตัวชี้วัด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พฤติกรรมในแถว: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พิมพ์ + Tab (6 ช่อง)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ท้ายแถวคน:</a:t>
            </a:r>
          </a:p>
          <a:p>
            <a:pPr>
              <a:defRPr sz="1200">
                <a:solidFill>
                  <a:srgbClr val="1E3A8A"/>
                </a:solidFill>
                <a:latin typeface="Prompt"/>
              </a:defRPr>
            </a:pPr>
            <a:r>
              <a:t>  กด Tab เพิ่ม 2 ครั้งท้ายแถว!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Prompt"/>
              </a:defRPr>
            </a:pPr>
            <a:r>
              <a:t>• สปีดแนะนำ:</a:t>
            </a:r>
          </a:p>
          <a:p>
            <a:pPr>
              <a:defRPr sz="1200">
                <a:solidFill>
                  <a:srgbClr val="64748B"/>
                </a:solidFill>
                <a:latin typeface="Prompt"/>
              </a:defRPr>
            </a:pPr>
            <a:r>
              <a:t>  0.02s ⚡ Turbo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โหมดที่ 1: ผลการเรียนรายวิชาทั่วไป (Academic Scores)</a:t>
            </a:r>
          </a:p>
        </p:txBody>
      </p:sp>
      <p:pic>
        <p:nvPicPr>
          <p:cNvPr id="4" name="Picture 3" descr="sgs_mode1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34276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71600"/>
            <a:ext cx="2926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55448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  <a:latin typeface="Prompt"/>
              </a:defRPr>
            </a:pPr>
            <a:r>
              <a:t>📊 การใช้งานโหมด 1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เหมาะสำหรับคะแนนเก็บย่อย กลางภาค ปลายภาค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รองรับทั้งคัดลอก 1 คอลัมน์ หรือหลายคอลัมน์พร้อมกัน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พิมพ์คะแนน + Tab 1 ครั้งทุกช่อง ไม่มี Tab พิเศษ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ความเร็วแนะนำ: 0.10s เพื่อให้สูตรคำนวณใน SGS ประมวลผลทัน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โหมดที่ 2: คุณลักษณะอันพึงประสงค์ (8 ตัวชี้วัด + ข้าม 4 Tab)</a:t>
            </a:r>
          </a:p>
        </p:txBody>
      </p:sp>
      <p:pic>
        <p:nvPicPr>
          <p:cNvPr id="4" name="Picture 3" descr="sgs_mode2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35705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71600"/>
            <a:ext cx="2926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55448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  <a:latin typeface="Prompt"/>
              </a:defRPr>
            </a:pPr>
            <a:r>
              <a:t>⭐ การใช้งานโหมด 2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ช่อง 1 ถึง 8 พิมพ์คะแนน + Tab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⚡ โปรแกรมส่ง Tab เปล่าเพิ่มอีก 4 ครั้งท้ายแถวอัตโนมัติ เพื่อข้ามช่องรวม/ฐานนิยม/ผลประเมิน/แก้ไข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เคอร์เซอร์จะลงช่องข้อ 1 ของนักเรียนคนถัดไปพอดี 100%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ความเร็วแนะนำ: 0.02s (Turbo ⚡) บันทึก 40 คนเสร็จในไม่กี่วินาที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โหมดที่ 3: การอ่าน คิดวิเคราะห์และเขียน (6 ตัวชี้วัด + ข้าม 2 Tab)</a:t>
            </a:r>
          </a:p>
        </p:txBody>
      </p:sp>
      <p:pic>
        <p:nvPicPr>
          <p:cNvPr id="4" name="Picture 3" descr="sgs_mode3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498079" cy="357051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371600"/>
            <a:ext cx="292608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55448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  <a:latin typeface="Prompt"/>
              </a:defRPr>
            </a:pPr>
            <a:r>
              <a:t>📖 การใช้งานโหมด 3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ช่อง 1 ถึง 6 พิมพ์คะแนน + Tab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⚡ โปรแกรมส่ง Tab เปล่าเพิ่มอีก 2 ครั้งท้ายแถวอัตโนมัติ เพื่อข้ามช่องผลรวม/ผลประเมิน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เคอร์เซอร์จะลงช่องข้อ 1 ของนักเรียนคนถัดไปพอดี 100%</a:t>
            </a:r>
          </a:p>
          <a:p>
            <a:pPr>
              <a:spcBef>
                <a:spcPts val="800"/>
              </a:spcBef>
              <a:defRPr sz="1150">
                <a:solidFill>
                  <a:srgbClr val="0F172A"/>
                </a:solidFill>
                <a:latin typeface="Prompt"/>
              </a:defRPr>
            </a:pPr>
            <a:r>
              <a:t>• ความเร็วแนะนำ: 0.02s (Turbo ⚡) พิมพ์เสร็จรวดเร็วทันใจ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ขั้นตอนที่ 3 &amp; 4: สั่งพิมพ์คะแนน และกดบันทึกใน SGS</a:t>
            </a:r>
          </a:p>
        </p:txBody>
      </p:sp>
      <p:pic>
        <p:nvPicPr>
          <p:cNvPr id="4" name="Picture 3" descr="autosgs_save_rem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609167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120640" y="1371600"/>
            <a:ext cx="63093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1554480"/>
            <a:ext cx="5760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Prompt"/>
              </a:defRPr>
            </a:pPr>
            <a:r>
              <a:t>🎯 2 วิธีการสั่งพิมพ์ที่เลือกได้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วิธีที่ 1 (แนะนำมากที่สุด): สลับไปเว็บ SGS คลิกช่องแรกของเลขที่ 1 แล้วกดปุ่ม F2 บนคีย์บอร์ดเพียงครั้งเดียว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วิธีที่ 2: กดปุ่ม '▶ เริ่มพิมพ์ (3s)' ในโปรแกรม ฟังเสียงนับถอยหลัง แล้วสลับไปคลิกช่องแรกใน SGS</a:t>
            </a:r>
          </a:p>
          <a:p>
            <a:pPr>
              <a:spcBef>
                <a:spcPts val="1400"/>
              </a:spcBef>
              <a:defRPr sz="1700" b="1">
                <a:solidFill>
                  <a:srgbClr val="D97706"/>
                </a:solidFill>
                <a:latin typeface="Prompt"/>
              </a:defRPr>
            </a:pPr>
            <a:r>
              <a:t>💾 สำคัญมาก: การกดปุ่ม 'บันทึก' ในระบบ SGS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  <a:latin typeface="Prompt"/>
              </a:defRPr>
            </a:pPr>
            <a:r>
              <a:t>• เมื่อพิมพ์เสร็จสิ้น จะมีแถบเตือนสีส้มแจ้งเตือนเสมอ</a:t>
            </a:r>
            <a:br/>
            <a:r>
              <a:t>• คุณครูต้องเลื่อนลงไปคลิกปุ่ม 'บันทึก' ในหน้าเว็บ SGS ด้วยตนเองเสมอ คะแนนจึงจะถูกบันทึกเข้าฐานข้อมูลโรงเรียนอย่างสมบูรณ์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ระบบความปลอดภัย &amp; การตรวจสอบข้อมูลด้วย Preview</a:t>
            </a:r>
          </a:p>
        </p:txBody>
      </p:sp>
      <p:pic>
        <p:nvPicPr>
          <p:cNvPr id="4" name="Picture 3" descr="autosgs_preview_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486400" cy="557080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554480"/>
            <a:ext cx="4389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  <a:latin typeface="Prompt"/>
              </a:defRPr>
            </a:pPr>
            <a:r>
              <a:t>🛑 ระบบหยุดฉุกเฉิน (Kill Switch)</a:t>
            </a:r>
          </a:p>
          <a:p>
            <a:pPr>
              <a:spcBef>
                <a:spcPts val="800"/>
              </a:spcBef>
              <a:defRPr sz="1250">
                <a:solidFill>
                  <a:srgbClr val="7F1D1D"/>
                </a:solidFill>
                <a:latin typeface="Prompt"/>
              </a:defRPr>
            </a:pPr>
            <a:r>
              <a:t>• หากคลิกผิดช่อง หรือต้องการยกเลิกกะทันหัน</a:t>
            </a:r>
          </a:p>
          <a:p>
            <a:pPr>
              <a:spcBef>
                <a:spcPts val="800"/>
              </a:spcBef>
              <a:defRPr sz="1250">
                <a:solidFill>
                  <a:srgbClr val="7F1D1D"/>
                </a:solidFill>
                <a:latin typeface="Prompt"/>
              </a:defRPr>
            </a:pPr>
            <a:r>
              <a:t>• กดปุ่ม ESC บนคีย์บอร์ดได้ทันที ทุกเวลา!</a:t>
            </a:r>
          </a:p>
          <a:p>
            <a:pPr>
              <a:spcBef>
                <a:spcPts val="800"/>
              </a:spcBef>
              <a:defRPr sz="1250">
                <a:solidFill>
                  <a:srgbClr val="7F1D1D"/>
                </a:solidFill>
                <a:latin typeface="Prompt"/>
              </a:defRPr>
            </a:pPr>
            <a:r>
              <a:t>• โปรแกรมหยุดทันทีในระดับมิลลิวินาที (&lt;50ms)</a:t>
            </a:r>
          </a:p>
          <a:p>
            <a:pPr>
              <a:spcBef>
                <a:spcPts val="800"/>
              </a:spcBef>
              <a:defRPr sz="1250">
                <a:solidFill>
                  <a:srgbClr val="7F1D1D"/>
                </a:solidFill>
                <a:latin typeface="Prompt"/>
              </a:defRPr>
            </a:pPr>
            <a:r>
              <a:t>• ไม่เกิดการพิมพ์ค้างหรือพิมพ์เกิน ปลอดภัย 100%</a:t>
            </a:r>
          </a:p>
          <a:p>
            <a:pPr>
              <a:spcBef>
                <a:spcPts val="800"/>
              </a:spcBef>
              <a:defRPr sz="1250">
                <a:solidFill>
                  <a:srgbClr val="7F1D1D"/>
                </a:solidFill>
                <a:latin typeface="Prompt"/>
              </a:defRPr>
            </a:pPr>
            <a:r>
              <a:t>• ⏩ ช่องว่าง (เด็กขาดสอบ / ยังไม่มีคะแนน) โปรแกรมจะส่งเฉพาะ Tab เปล่าข้ามไป ไม่กระทบเพื่อนคนอื่น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การตั้งค่าโปรแกรมโดยละเอียด (Settings Dialog)</a:t>
            </a:r>
          </a:p>
        </p:txBody>
      </p:sp>
      <p:pic>
        <p:nvPicPr>
          <p:cNvPr id="4" name="Picture 3" descr="autosgs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572000" cy="38342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577840" y="1371600"/>
            <a:ext cx="585216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0" y="15544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Prompt"/>
              </a:defRPr>
            </a:pPr>
            <a:r>
              <a:t>⚙️ ปรับแต่งได้ตามความต้องการ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ปุ่มลัดเริ่มพิมพ์ (Global Hotkey):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เปลี่ยนเป็น F4, F8 หรือ Ctrl+Alt+V ได้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ขนาดตัวอักษรและการแสดงผล: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ปกติ (100%), ใหญ่ (115% แนะนำ), ใหญ่พิเศษ (130%) เหมาะสำหรับสายตาผู้ใหญ่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ธีมการแสดงผล: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System (ตามธีม Windows), Dark Mode หรือ Light Mode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เสียงแจ้งเตือน: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เปิด/ปิดเสียง Beep นับถอยหลัง และเสียง Chime เมื่อเสร็จ</a:t>
            </a:r>
          </a:p>
          <a:p>
            <a:pPr>
              <a:spcBef>
                <a:spcPts val="600"/>
              </a:spcBef>
              <a:defRPr sz="1200" b="1">
                <a:solidFill>
                  <a:srgbClr val="2563EB"/>
                </a:solidFill>
                <a:latin typeface="Prompt"/>
              </a:defRPr>
            </a:pPr>
            <a:r>
              <a:t>✔ จดจำความเร็วแยกแต่ละโหมด: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    จำสปีดของแต่ละโหมดแยกกันอัตโนมัติ ไม่ต้องปรับใหม่ทุกครั้ง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5 ข้อควรระวังและเทคนิคเพื่อความแม่นยำ 100%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81328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1. ตรวจสอบจำนวนแถวเสมอ: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สังเกตกล่องสถานะว่าจำนวนแถวตรงกับจำนวนนักเรียนในห้องหรือไม่ (เช่น 40 แถว)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41448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2. ปรับซูมหน้าเว็บ SGS ไว้ที่ 100%: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เพื่อป้องกันไม่ให้ตารางคะแนนตกหล่นหรือเลื่อนผิดช่อง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01568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3. ห้ามแตะเมาส์ขณะโปรแกรมกำลังพิมพ์: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ปล่อยมือจากเมาส์และแป้นพิมพ์ รอจนมีเสียงกระดิ่งเตือนว่าเสร็จสิ้น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61688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4. เน็ตโรงเรียนช้า ให้ปรับเพิ่ม Delay: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หากหน้าเว็บ SGS ตอบสนองช้า ให้เลื่อนสไลเดอร์ความเร็วเป็น 0.15s – 0.20s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21808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5. สามารถแบ่งกรอกทีละครึ่งห้องได้: </a:t>
            </a:r>
          </a:p>
          <a:p>
            <a:pPr>
              <a:defRPr sz="1150">
                <a:solidFill>
                  <a:srgbClr val="64748B"/>
                </a:solidFill>
                <a:latin typeface="Prompt"/>
              </a:defRPr>
            </a:pPr>
            <a:r>
              <a:t>ลากคลุมคนที่ 1–20 แล้วสั่งพิมพ์ จากนั้นค่อยคลุมคนที่ 21–40 มาคลิกช่อง 21 แล้วสั่งพิมพ์ต่อ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คำถามที่พบบ่อย (FAQs &amp; Troubleshooting)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149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Q: เปิดโปรแกรมแล้วขึ้น 'Windows protected your PC'?</a:t>
            </a:r>
          </a:p>
          <a:p>
            <a:pPr>
              <a:defRPr sz="1200">
                <a:solidFill>
                  <a:srgbClr val="059669"/>
                </a:solidFill>
                <a:latin typeface="Prompt"/>
              </a:defRPr>
            </a:pPr>
            <a:r>
              <a:t>ตอบ: คลิก 'More info' (ข้อมูลเพิ่มเติม) แล้วกดปุ่ม 'Run anyway' (เรียกใช้ต่อไป) ปลอดภัย 100%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0149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Q: กดปุ่ม F2 แล้วไม่มีการพิมพ์เกิดขึ้น?</a:t>
            </a:r>
          </a:p>
          <a:p>
            <a:pPr>
              <a:defRPr sz="1200">
                <a:solidFill>
                  <a:srgbClr val="059669"/>
                </a:solidFill>
                <a:latin typeface="Prompt"/>
              </a:defRPr>
            </a:pPr>
            <a:r>
              <a:t>ตอบ: โน้ตบุ๊กบางรุ่นต้องกดปุ่ม Fn + F2 หรือตรวจสอบว่าได้คลิกโฟกัสช่องแรกในเว็บ SGS หรือยัง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840479"/>
            <a:ext cx="10149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Q: มีนักเรียนย้ายออก ลาออก หรือติด ร. ต้องทำอย่างไร?</a:t>
            </a:r>
          </a:p>
          <a:p>
            <a:pPr>
              <a:defRPr sz="1200">
                <a:solidFill>
                  <a:srgbClr val="059669"/>
                </a:solidFill>
                <a:latin typeface="Prompt"/>
              </a:defRPr>
            </a:pPr>
            <a:r>
              <a:t>ตอบ: ใน Excel ให้เว้นเซลล์ว่างไว้ โปรแกรมจะกด Tab ข้ามให้อัตโนมัติ ไม่เลื่อนผิดช่อง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051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014984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Prompt"/>
              </a:defRPr>
            </a:pPr>
            <a:r>
              <a:t>Q: ใช้งานบนเครื่อง Mac ได้หรือไม่?</a:t>
            </a:r>
          </a:p>
          <a:p>
            <a:pPr>
              <a:defRPr sz="1200">
                <a:solidFill>
                  <a:srgbClr val="059669"/>
                </a:solidFill>
                <a:latin typeface="Prompt"/>
              </a:defRPr>
            </a:pPr>
            <a:r>
              <a:t>ตอบ: ได้ครับ โดยต้องไปเปิดสิทธิ์ Accessibility ที่ System Settings &gt; Privacy &amp;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Prompt"/>
              </a:defRPr>
            </a:pPr>
            <a:r>
              <a:t>AUTOSGS คู่มือการใช้งาน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3A8A"/>
                </a:solidFill>
                <a:latin typeface="Prompt"/>
              </a:defRPr>
            </a:pPr>
            <a:r>
              <a:t>สรุปและช่องทางดาวน์โหลดโปรแกรม AutoSGS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8463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8A"/>
                </a:solidFill>
                <a:latin typeface="Prompt"/>
              </a:defRPr>
            </a:pPr>
            <a:r>
              <a:t>🎉 ดาวน์โหลดโปรแกรม AutoSGS เวอร์ชันล่าสุดได้ฟรี!</a:t>
            </a:r>
          </a:p>
          <a:p>
            <a:pPr algn="ctr">
              <a:defRPr sz="1400">
                <a:solidFill>
                  <a:srgbClr val="0F172A"/>
                </a:solidFill>
                <a:latin typeface="Prompt"/>
              </a:defRPr>
            </a:pPr>
            <a:br/>
            <a:r>
              <a:t>• เป็นไฟล์พกพา (Portable .exe) ดับเบิลคลิกเปิดใช้ได้ทันที ไม่ต้องติดตั้งโปรแกรม</a:t>
            </a:r>
            <a:br/>
            <a:r>
              <a:t>• รองรับทั้ง Windows 10/11 และ macOS</a:t>
            </a:r>
            <a:br/>
            <a:r>
              <a:t>• โครงการโอเพนซอร์สเพื่อสนับสนุนการศึกษาไทย</a:t>
            </a:r>
            <a:br/>
            <a:br/>
            <a:r>
              <a:t>🔗 GitHub Release: https://github.com/NOGiTTiS/AutoSGS</a:t>
            </a:r>
          </a:p>
          <a:p>
            <a:pPr algn="ctr">
              <a:defRPr sz="1300" b="1">
                <a:solidFill>
                  <a:srgbClr val="D97706"/>
                </a:solidFill>
                <a:latin typeface="Prompt"/>
              </a:defRPr>
            </a:pPr>
            <a:br/>
            <a:r>
              <a:t>ขอให้คุณครูทุกท่านมีความสุขและสะดวกสบายกับการบันทึกคะแนนในทุกสิ้นภาคเรียนครับ ❤️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